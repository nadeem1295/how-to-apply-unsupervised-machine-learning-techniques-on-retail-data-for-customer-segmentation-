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64" y="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43384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274320"/>
            <a:ext cx="3200400" cy="3200400"/>
          </a:xfrm>
          <a:prstGeom prst="ellipse">
            <a:avLst/>
          </a:prstGeom>
          <a:solidFill>
            <a:srgbClr val="0E7490">
              <a:alpha val="15000"/>
            </a:srgbClr>
          </a:solidFill>
          <a:ln w="12700">
            <a:solidFill>
              <a:srgbClr val="0E74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498080" y="1645920"/>
            <a:ext cx="2011680" cy="2011680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Concepts Explained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2651760"/>
            <a:ext cx="3657600" cy="36576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283464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guided walkthrough of data loading, cleaning, scaling, PCA, and K-Means clustering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4206240"/>
            <a:ext cx="1280160" cy="411480"/>
          </a:xfrm>
          <a:prstGeom prst="roundRect">
            <a:avLst>
              <a:gd name="adj" fmla="val 11111"/>
            </a:avLst>
          </a:prstGeom>
          <a:solidFill>
            <a:srgbClr val="0E7490">
              <a:alpha val="60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420624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Pandas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874520" y="4206240"/>
            <a:ext cx="1280160" cy="411480"/>
          </a:xfrm>
          <a:prstGeom prst="roundRect">
            <a:avLst>
              <a:gd name="adj" fmla="val 11111"/>
            </a:avLst>
          </a:prstGeom>
          <a:solidFill>
            <a:srgbClr val="0E7490">
              <a:alpha val="60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874520" y="420624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Regex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91840" y="4206240"/>
            <a:ext cx="1280160" cy="411480"/>
          </a:xfrm>
          <a:prstGeom prst="roundRect">
            <a:avLst>
              <a:gd name="adj" fmla="val 11111"/>
            </a:avLst>
          </a:prstGeom>
          <a:solidFill>
            <a:srgbClr val="0E7490">
              <a:alpha val="60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91840" y="420624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StandardScaler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09160" y="4206240"/>
            <a:ext cx="1280160" cy="411480"/>
          </a:xfrm>
          <a:prstGeom prst="roundRect">
            <a:avLst>
              <a:gd name="adj" fmla="val 11111"/>
            </a:avLst>
          </a:prstGeom>
          <a:solidFill>
            <a:srgbClr val="0E7490">
              <a:alpha val="60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09160" y="420624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PCA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126480" y="4206240"/>
            <a:ext cx="1280160" cy="411480"/>
          </a:xfrm>
          <a:prstGeom prst="roundRect">
            <a:avLst>
              <a:gd name="adj" fmla="val 11111"/>
            </a:avLst>
          </a:prstGeom>
          <a:solidFill>
            <a:srgbClr val="0E7490">
              <a:alpha val="60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126480" y="420624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K-Means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543800" y="4206240"/>
            <a:ext cx="1280160" cy="411480"/>
          </a:xfrm>
          <a:prstGeom prst="roundRect">
            <a:avLst>
              <a:gd name="adj" fmla="val 11111"/>
            </a:avLst>
          </a:prstGeom>
          <a:solidFill>
            <a:srgbClr val="0E7490">
              <a:alpha val="60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543800" y="420624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Silhouette Score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E7490">
              <a:alpha val="40000"/>
            </a:srgbClr>
          </a:solidFill>
          <a:ln w="12700">
            <a:solidFill>
              <a:srgbClr val="0E749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502920" cy="5029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280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1234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Loading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153619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pd.read_csv &amp; delimiters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2194560"/>
            <a:ext cx="502920" cy="5029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21488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245059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replace &amp; type conversion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3108960"/>
            <a:ext cx="502920" cy="5029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5760" y="3108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0120" y="30632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 &amp; Descriptive Stats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0120" y="336499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loc, drop, describe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4023360"/>
            <a:ext cx="502920" cy="5029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65760" y="4023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39776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&amp; Heatmaps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60120" y="427939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 &amp; matplotlib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937760" y="1280160"/>
            <a:ext cx="502920" cy="5029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937760" y="1280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532120" y="1234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Scaling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532120" y="153619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&amp; normalization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937760" y="2194560"/>
            <a:ext cx="502920" cy="5029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937760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06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532120" y="21488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532120" y="245059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Dimensionality reduction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937760" y="3108960"/>
            <a:ext cx="502920" cy="5029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937760" y="3108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07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532120" y="30632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532120" y="336499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&amp; silhouette score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937760" y="4023360"/>
            <a:ext cx="502920" cy="5029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937760" y="4023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08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532120" y="39776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Visualising Clusters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532120" y="427939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plots &amp; cluster centres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Data Loading with Pandas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841248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188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</a:t>
            </a:r>
            <a:r>
              <a:rPr lang="en-US" sz="12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pandas </a:t>
            </a:r>
            <a:r>
              <a:rPr lang="en-US" sz="12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 </a:t>
            </a:r>
            <a:r>
              <a:rPr lang="en-US" sz="12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
</a:t>
            </a: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category </a:t>
            </a:r>
            <a:r>
              <a:rPr lang="en-US" sz="12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pd.read_csv(</a:t>
            </a: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"category_spends_sample.csv"</a:t>
            </a:r>
            <a:r>
              <a:rPr lang="en-US" sz="12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delimiter=</a:t>
            </a: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','</a:t>
            </a:r>
            <a:r>
              <a:rPr lang="en-US" sz="12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2286000"/>
            <a:ext cx="2651760" cy="2468880"/>
          </a:xfrm>
          <a:prstGeom prst="rect">
            <a:avLst/>
          </a:prstGeom>
          <a:solidFill>
            <a:srgbClr val="F1F5F9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2286000"/>
            <a:ext cx="2651760" cy="4572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22860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pandas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834640"/>
            <a:ext cx="2468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widely-used Python library for data manipulation — provides DataFrames (2D tables) and Series (1D arrays).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2286000"/>
            <a:ext cx="2651760" cy="2468880"/>
          </a:xfrm>
          <a:prstGeom prst="rect">
            <a:avLst/>
          </a:prstGeom>
          <a:solidFill>
            <a:srgbClr val="F1F5F9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00400" y="2286000"/>
            <a:ext cx="2651760" cy="4572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00400" y="22860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pd.read_csv()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91840" y="2834640"/>
            <a:ext cx="2468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 comma-separated values file into a DataFrame. Accepts dozens of parameters for fine-grained control.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2286000"/>
            <a:ext cx="2651760" cy="2468880"/>
          </a:xfrm>
          <a:prstGeom prst="rect">
            <a:avLst/>
          </a:prstGeom>
          <a:solidFill>
            <a:srgbClr val="F1F5F9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035040" y="2286000"/>
            <a:ext cx="2651760" cy="4572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035040" y="22860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delimiter=','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26480" y="2834640"/>
            <a:ext cx="2468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the parser which character separates columns. Common values: ',' (CSV), '\t' (TSV), '|' (pipe-delimited).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Data Cleaning — Regex &amp; Type Conversion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841248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18872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Remove £ symbols and commas
</a:t>
            </a: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category </a:t>
            </a:r>
            <a:r>
              <a:rPr lang="en-US" sz="11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category.replace({</a:t>
            </a:r>
            <a:r>
              <a:rPr lang="en-US" sz="11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'\\£': ''</a:t>
            </a:r>
            <a:r>
              <a:rPr lang="en-US" sz="11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 regex=</a:t>
            </a:r>
            <a:r>
              <a:rPr lang="en-US" sz="11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r>
              <a:rPr lang="en-US" sz="11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
</a:t>
            </a: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category </a:t>
            </a:r>
            <a:r>
              <a:rPr lang="en-US" sz="11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category.replace({</a:t>
            </a:r>
            <a:r>
              <a:rPr lang="en-US" sz="11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'\\,': ''</a:t>
            </a:r>
            <a:r>
              <a:rPr lang="en-US" sz="11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 regex=</a:t>
            </a:r>
            <a:r>
              <a:rPr lang="en-US" sz="11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r>
              <a:rPr lang="en-US" sz="11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2651760"/>
            <a:ext cx="4114800" cy="4572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26517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What is Regex?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3108960"/>
            <a:ext cx="4114800" cy="1920240"/>
          </a:xfrm>
          <a:prstGeom prst="rect">
            <a:avLst/>
          </a:prstGeom>
          <a:solidFill>
            <a:srgbClr val="F1F5F9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315468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Expressions (regex) are patterns for matching text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\£ matches the literal pound sign £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\, matches the literal comma ,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regex=True enables pattern matching mode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Replacement with '' (empty string) effectively removes the character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46320" y="2651760"/>
            <a:ext cx="4114800" cy="4572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46320" y="26517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pd.to_numeric(errors='coerce')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46320" y="3108960"/>
            <a:ext cx="4114800" cy="1920240"/>
          </a:xfrm>
          <a:prstGeom prst="rect">
            <a:avLst/>
          </a:prstGeom>
          <a:solidFill>
            <a:srgbClr val="F1F5F9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937760" y="315468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all column values to numeric (float/int)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errors='coerce' turns invalid values into NaN instead of raising an error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column-by-column using .apply()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after removing £ and , so numbers can be used in calculations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 values can be dropped or filled later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Filtering, Dropping Columns &amp; Descriptive Stats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8412480" cy="10515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1887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</a:t>
            </a:r>
            <a:r>
              <a:rPr lang="en-US" sz="11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category.loc[category[</a:t>
            </a:r>
            <a:r>
              <a:rPr lang="en-US" sz="11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'lottery'</a:t>
            </a:r>
            <a:r>
              <a:rPr lang="en-US" sz="11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]&gt;=</a:t>
            </a:r>
            <a:r>
              <a:rPr lang="en-US" sz="1100" dirty="0">
                <a:solidFill>
                  <a:srgbClr val="F9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1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
</a:t>
            </a: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</a:t>
            </a:r>
            <a:r>
              <a:rPr lang="en-US" sz="11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data.drop([</a:t>
            </a:r>
            <a:r>
              <a:rPr lang="en-US" sz="11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'customer_number','bakery'</a:t>
            </a:r>
            <a:r>
              <a:rPr lang="en-US" sz="11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 axis=</a:t>
            </a:r>
            <a:r>
              <a:rPr lang="en-US" sz="1100" dirty="0">
                <a:solidFill>
                  <a:srgbClr val="F9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1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data.describe()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2331720"/>
            <a:ext cx="2651760" cy="43891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2331720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.loc[ ]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2770632"/>
            <a:ext cx="2651760" cy="2286000"/>
          </a:xfrm>
          <a:prstGeom prst="rect">
            <a:avLst/>
          </a:prstGeom>
          <a:solidFill>
            <a:srgbClr val="F1F5F9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2834640"/>
            <a:ext cx="24688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Label-based row filtering. Returns only rows where the condition is True.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Here: keep rows where 'lottery' spend ≥ 0 (removing negative/invalid entries).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2331720"/>
            <a:ext cx="2651760" cy="43891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00400" y="2331720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.drop()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200400" y="2770632"/>
            <a:ext cx="2651760" cy="2286000"/>
          </a:xfrm>
          <a:prstGeom prst="rect">
            <a:avLst/>
          </a:prstGeom>
          <a:solidFill>
            <a:srgbClr val="F1F5F9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91840" y="2834640"/>
            <a:ext cx="24688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specified columns (axis=1) or rows (axis=0).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Here: removes 'customer_number' (an ID, not a feature) and 'bakery' (excluded category).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2331720"/>
            <a:ext cx="2651760" cy="43891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035040" y="2331720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.describe()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035040" y="2770632"/>
            <a:ext cx="2651760" cy="2286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126480" y="2834640"/>
            <a:ext cx="24688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summary statistics: count, mean, std, min, 25th/50th/75th percentiles, and max for every numeric column.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Correlation &amp; Heatmaps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8412480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1887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 </a:t>
            </a:r>
            <a:r>
              <a:rPr lang="en-US" sz="11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data.corr()
</a:t>
            </a: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cmap </a:t>
            </a:r>
            <a:r>
              <a:rPr lang="en-US" sz="11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sns.diverging_palette(</a:t>
            </a:r>
            <a:r>
              <a:rPr lang="en-US" sz="1100" dirty="0">
                <a:solidFill>
                  <a:srgbClr val="F9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220</a:t>
            </a:r>
            <a:r>
              <a:rPr lang="en-US" sz="11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100" dirty="0">
                <a:solidFill>
                  <a:srgbClr val="F9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r>
              <a:rPr lang="en-US" sz="11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as_cmap=</a:t>
            </a:r>
            <a:r>
              <a:rPr lang="en-US" sz="11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r>
              <a:rPr lang="en-US" sz="11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
sns.heatmap(corr, cmap=cmap, vmax=.99, square=True, linewidths=.5)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2468880"/>
            <a:ext cx="4114800" cy="1188720"/>
          </a:xfrm>
          <a:prstGeom prst="rect">
            <a:avLst/>
          </a:prstGeom>
          <a:solidFill>
            <a:srgbClr val="F1F5F9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2468880"/>
            <a:ext cx="64008" cy="1188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21208" y="25146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data.corr()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21208" y="2816352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Computes pairwise Pearson correlation coefficients between all columns. Values range from -1 (perfect negative) to +1 (perfect positive). 0 means no linear relationship.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46320" y="2468880"/>
            <a:ext cx="4114800" cy="1188720"/>
          </a:xfrm>
          <a:prstGeom prst="rect">
            <a:avLst/>
          </a:prstGeom>
          <a:solidFill>
            <a:srgbClr val="F1F5F9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846320" y="2468880"/>
            <a:ext cx="64008" cy="1188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01768" y="25146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 Heatmap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01768" y="2816352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sns.heatmap() visualises the correlation matrix as a colour-coded grid. Diverging palettes make positive and negative correlations immediately obvious.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794760"/>
            <a:ext cx="4114800" cy="1188720"/>
          </a:xfrm>
          <a:prstGeom prst="rect">
            <a:avLst/>
          </a:prstGeom>
          <a:solidFill>
            <a:srgbClr val="F1F5F9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65760" y="3794760"/>
            <a:ext cx="64008" cy="1188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21208" y="38404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Diverging Palette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21208" y="4142232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sns.diverging_palette() creates a colour scale that diverges from a neutral midpoint. 220 (blue) for negative correlations, 10 (red) for positive.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46320" y="3794760"/>
            <a:ext cx="4114800" cy="1188720"/>
          </a:xfrm>
          <a:prstGeom prst="rect">
            <a:avLst/>
          </a:prstGeom>
          <a:solidFill>
            <a:srgbClr val="F1F5F9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846320" y="3794760"/>
            <a:ext cx="64008" cy="1188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001768" y="38404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01768" y="4142232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correlated features may be redundant — identifying them helps decide what to keep or remove before PCA and clustering, improving model quality.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Feature Scaling — StandardScaler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841248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1887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sklearn.preprocessing import </a:t>
            </a:r>
            <a:r>
              <a:rPr lang="en-US" sz="12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StandardScaler
</a:t>
            </a: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scaler </a:t>
            </a:r>
            <a:r>
              <a:rPr lang="en-US" sz="12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StandardScaler()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scaler.fit(data)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scaled_data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scaler.transform(data)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2377440"/>
            <a:ext cx="2926080" cy="2560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237744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B6D4"/>
                </a:solidFill>
              </a:rPr>
              <a:t>The Formula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283464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 = (x − μ) / σ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02920" y="3493008"/>
            <a:ext cx="2651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original value
</a:t>
            </a: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  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column mean
</a:t>
            </a: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 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standard deviation
</a:t>
            </a: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 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standardised value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0" y="2377440"/>
            <a:ext cx="5394960" cy="594360"/>
          </a:xfrm>
          <a:prstGeom prst="rect">
            <a:avLst/>
          </a:prstGeom>
          <a:solidFill>
            <a:srgbClr val="F1F5F9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474720" y="2377440"/>
            <a:ext cx="54864" cy="59436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21024" y="241401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490"/>
                </a:solidFill>
              </a:rPr>
              <a:t>Why scale?: 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21024" y="265176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like PCA and K-Means use distances. A column in £1000s would dominate over one in units of 1–10, even if both are equally important.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474720" y="3035808"/>
            <a:ext cx="5394960" cy="594360"/>
          </a:xfrm>
          <a:prstGeom prst="rect">
            <a:avLst/>
          </a:prstGeom>
          <a:solidFill>
            <a:srgbClr val="F1F5F9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474720" y="3035808"/>
            <a:ext cx="54864" cy="59436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621024" y="307238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490"/>
                </a:solidFill>
              </a:rPr>
              <a:t>.fit(): 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21024" y="331012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Calculates the mean (μ) and standard deviation (σ) for each column from the training data. Must always be called before transform.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0" y="3694176"/>
            <a:ext cx="5394960" cy="594360"/>
          </a:xfrm>
          <a:prstGeom prst="rect">
            <a:avLst/>
          </a:prstGeom>
          <a:solidFill>
            <a:srgbClr val="F1F5F9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474720" y="3694176"/>
            <a:ext cx="54864" cy="59436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621024" y="373075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490"/>
                </a:solidFill>
              </a:rPr>
              <a:t>.transform(): 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21024" y="3968496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the formula z=(x−μ)/σ to every value. Each column ends up with mean ≈ 0 and std ≈ 1, putting all features on equal footing.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474720" y="4352544"/>
            <a:ext cx="5394960" cy="594360"/>
          </a:xfrm>
          <a:prstGeom prst="rect">
            <a:avLst/>
          </a:prstGeom>
          <a:solidFill>
            <a:srgbClr val="F1F5F9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474720" y="4352544"/>
            <a:ext cx="54864" cy="59436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621024" y="43891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490"/>
                </a:solidFill>
              </a:rPr>
              <a:t>Result: 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21024" y="4626864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scaled_data is a NumPy array. Wrapping it in pd.DataFrame() restores the familiar table structure for further analysis.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Principal Component Analysis (PCA)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8412480" cy="10515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1887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sklearn.decomposition import </a:t>
            </a:r>
            <a:r>
              <a:rPr lang="en-US" sz="11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PCA
</a:t>
            </a: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pca </a:t>
            </a:r>
            <a:r>
              <a:rPr lang="en-US" sz="11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PCA(n_components=</a:t>
            </a:r>
            <a:r>
              <a:rPr lang="en-US" sz="1100" dirty="0">
                <a:solidFill>
                  <a:srgbClr val="F9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r>
              <a:rPr lang="en-US" sz="11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pca.fit(data1)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reduced_data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pca.transform(data1)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2331720"/>
            <a:ext cx="1920240" cy="2651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251460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19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Original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Features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331720" y="3474720"/>
            <a:ext cx="64008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331720" y="329184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B6D4"/>
                </a:solidFill>
              </a:rPr>
              <a:t>→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304288" y="37033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PCA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017520" y="2331720"/>
            <a:ext cx="1371600" cy="2651760"/>
          </a:xfrm>
          <a:prstGeom prst="rect">
            <a:avLst/>
          </a:prstGeom>
          <a:solidFill>
            <a:srgbClr val="0E7490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017520" y="260604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Components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663440" y="2331720"/>
            <a:ext cx="4206240" cy="594360"/>
          </a:xfrm>
          <a:prstGeom prst="rect">
            <a:avLst/>
          </a:prstGeom>
          <a:solidFill>
            <a:srgbClr val="F1F5F9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663440" y="2331720"/>
            <a:ext cx="54864" cy="59436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09744" y="236829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F72"/>
                </a:solidFill>
              </a:rPr>
              <a:t>What is PCA?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09744" y="26243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Transforms many correlated features into fewer uncorrelated 'principal components' that capture the most variance.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2999232"/>
            <a:ext cx="4206240" cy="594360"/>
          </a:xfrm>
          <a:prstGeom prst="rect">
            <a:avLst/>
          </a:prstGeom>
          <a:solidFill>
            <a:srgbClr val="F1F5F9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663440" y="2999232"/>
            <a:ext cx="54864" cy="59436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09744" y="303580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F72"/>
                </a:solidFill>
              </a:rPr>
              <a:t>n_components=3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09744" y="32918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19 spending categories down to 3 derived factors — making clustering tractable and visualisable.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3666744"/>
            <a:ext cx="4206240" cy="594360"/>
          </a:xfrm>
          <a:prstGeom prst="rect">
            <a:avLst/>
          </a:prstGeom>
          <a:solidFill>
            <a:srgbClr val="F1F5F9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663440" y="3666744"/>
            <a:ext cx="54864" cy="59436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09744" y="370332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F72"/>
                </a:solidFill>
              </a:rPr>
              <a:t>pca.components_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09744" y="39593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matrix showing how much each original feature contributes (loads) onto each principal component.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4334256"/>
            <a:ext cx="4206240" cy="594360"/>
          </a:xfrm>
          <a:prstGeom prst="rect">
            <a:avLst/>
          </a:prstGeom>
          <a:solidFill>
            <a:srgbClr val="F1F5F9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663440" y="4334256"/>
            <a:ext cx="54864" cy="59436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09744" y="437083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F72"/>
                </a:solidFill>
              </a:rPr>
              <a:t>pca.inverse_transform()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09744" y="462686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cluster centres back to the original 19-feature space so results can be interpreted in real terms.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K-Means Clustering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841248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188720"/>
            <a:ext cx="8229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sklearn.cluster import </a:t>
            </a:r>
            <a:r>
              <a:rPr lang="en-US" sz="11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KMeans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sklearn.metrics import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silhouette_score
</a:t>
            </a: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clusterer </a:t>
            </a:r>
            <a:r>
              <a:rPr lang="en-US" sz="11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KMeans(n_clusters=</a:t>
            </a:r>
            <a:r>
              <a:rPr lang="en-US" sz="1100" dirty="0">
                <a:solidFill>
                  <a:srgbClr val="F9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r>
              <a:rPr lang="en-US" sz="11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).fit(reduced_data)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preds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clusterer.predict(reduced_data)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2560320"/>
            <a:ext cx="4160520" cy="1188720"/>
          </a:xfrm>
          <a:prstGeom prst="rect">
            <a:avLst/>
          </a:prstGeom>
          <a:solidFill>
            <a:srgbClr val="F1F5F9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2560320"/>
            <a:ext cx="4160520" cy="38404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2560320"/>
            <a:ext cx="4160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K-Means Algorithm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999232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Partitions data into k groups. Each point is assigned to the nearest cluster centre (centroid). Centres are recalculated iteratively until convergence.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00600" y="2560320"/>
            <a:ext cx="4160520" cy="1188720"/>
          </a:xfrm>
          <a:prstGeom prst="rect">
            <a:avLst/>
          </a:prstGeom>
          <a:solidFill>
            <a:srgbClr val="F1F5F9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800600" y="2560320"/>
            <a:ext cx="4160520" cy="38404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00600" y="2560320"/>
            <a:ext cx="4160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n_clusters=5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92040" y="2999232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Specifies the number of segments to create. The code tests k from 2–10 to find the most meaningful number using silhouette scores.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840480"/>
            <a:ext cx="4160520" cy="1188720"/>
          </a:xfrm>
          <a:prstGeom prst="rect">
            <a:avLst/>
          </a:prstGeom>
          <a:solidFill>
            <a:srgbClr val="F1F5F9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65760" y="3840480"/>
            <a:ext cx="4160520" cy="38404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65760" y="3840480"/>
            <a:ext cx="4160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Silhouette Score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4279392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how similar a point is to its own cluster vs. other clusters. Ranges from -1 to +1. Higher is better. Score of 0.52 (k=2) was the highest here.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800600" y="3840480"/>
            <a:ext cx="4160520" cy="1188720"/>
          </a:xfrm>
          <a:prstGeom prst="rect">
            <a:avLst/>
          </a:prstGeom>
          <a:solidFill>
            <a:srgbClr val="F1F5F9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800600" y="3840480"/>
            <a:ext cx="416052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00600" y="3840480"/>
            <a:ext cx="4160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.cluster_centers_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92040" y="4279392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coordinates of each cluster centroid in reduced (PCA) space. Inverse-transformed back to original features to describe customer spending habits.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Visualising Cluster Results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8412480" cy="12344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1887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</a:t>
            </a: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i, c </a:t>
            </a:r>
            <a:r>
              <a:rPr lang="en-US" sz="105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</a:t>
            </a:r>
            <a:r>
              <a:rPr lang="en-US" sz="10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plot_data.groupby(</a:t>
            </a:r>
            <a:r>
              <a:rPr lang="en-US" sz="10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'Cluster'</a:t>
            </a:r>
            <a:r>
              <a:rPr lang="en-US" sz="10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plt.scatter(c[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9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0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 c[</a:t>
            </a:r>
            <a:r>
              <a:rPr lang="en-US" sz="1050" dirty="0">
                <a:solidFill>
                  <a:srgbClr val="F9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0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  # colour auto-assigned
</a:t>
            </a:r>
            <a:r>
              <a:rPr lang="en-US" sz="105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</a:t>
            </a: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i, c </a:t>
            </a:r>
            <a:r>
              <a:rPr lang="en-US" sz="105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</a:t>
            </a:r>
            <a:r>
              <a:rPr lang="en-US" sz="10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enumerate(centres):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plt.scatter(c[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9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0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 c[</a:t>
            </a:r>
            <a:r>
              <a:rPr lang="en-US" sz="1050" dirty="0">
                <a:solidFill>
                  <a:srgbClr val="F9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0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 marker=</a:t>
            </a:r>
            <a:r>
              <a:rPr lang="en-US" sz="10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'${}$'.format(i)</a:t>
            </a:r>
            <a:r>
              <a:rPr lang="en-US" sz="10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s=</a:t>
            </a:r>
            <a:r>
              <a:rPr lang="en-US" sz="1050" dirty="0">
                <a:solidFill>
                  <a:srgbClr val="F9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300</a:t>
            </a:r>
            <a:r>
              <a:rPr lang="en-US" sz="10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65760" y="2514600"/>
            <a:ext cx="4160520" cy="1188720"/>
          </a:xfrm>
          <a:prstGeom prst="rect">
            <a:avLst/>
          </a:prstGeom>
          <a:solidFill>
            <a:srgbClr val="F1F5F9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2514600"/>
            <a:ext cx="64008" cy="11887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21208" y="258775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7490"/>
                </a:solidFill>
              </a:rPr>
              <a:t>groupby('Cluster')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21208" y="2898648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the DataFrame by cluster label, letting us iterate and plot each segment with a distinct colour automatically.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00600" y="2514600"/>
            <a:ext cx="4160520" cy="1188720"/>
          </a:xfrm>
          <a:prstGeom prst="rect">
            <a:avLst/>
          </a:prstGeom>
          <a:solidFill>
            <a:srgbClr val="F1F5F9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800600" y="2514600"/>
            <a:ext cx="64008" cy="11887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956048" y="258775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7490"/>
                </a:solidFill>
              </a:rPr>
              <a:t>plt.scatter()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56048" y="2898648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2D scatter plot. PCA component 0 on x-axis, component 1 on y-axis. Each dot is a customer coloured by their segment.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794760"/>
            <a:ext cx="4160520" cy="1188720"/>
          </a:xfrm>
          <a:prstGeom prst="rect">
            <a:avLst/>
          </a:prstGeom>
          <a:solidFill>
            <a:srgbClr val="F1F5F9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65760" y="3794760"/>
            <a:ext cx="64008" cy="11887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21208" y="386791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7490"/>
                </a:solidFill>
              </a:rPr>
              <a:t>Cluster Centres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21208" y="4178808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Plotted as large markers with the cluster number. Makes it easy to see where each segment sits in reduced feature space.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800600" y="3794760"/>
            <a:ext cx="4160520" cy="1188720"/>
          </a:xfrm>
          <a:prstGeom prst="rect">
            <a:avLst/>
          </a:prstGeom>
          <a:solidFill>
            <a:srgbClr val="F1F5F9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800600" y="3794760"/>
            <a:ext cx="64008" cy="11887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956048" y="386791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7490"/>
                </a:solidFill>
              </a:rPr>
              <a:t>inverse_transform()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56048" y="4178808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PCA centres back to original 19 spending categories — turning mathematical centroids into actionable customer profiles.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65776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Pipeline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CSV to customer segments — step by step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463040"/>
            <a:ext cx="960120" cy="59436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1463040"/>
            <a:ext cx="960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Load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80160" y="1508760"/>
            <a:ext cx="109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6B6D4"/>
                </a:solidFill>
              </a:rPr>
              <a:t>→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28600" y="210312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pd.read_csv()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389888" y="1463040"/>
            <a:ext cx="960120" cy="59436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389888" y="1463040"/>
            <a:ext cx="960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Clean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350008" y="1508760"/>
            <a:ext cx="109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6B6D4"/>
                </a:solidFill>
              </a:rPr>
              <a:t>→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98448" y="210312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replace() + to_numeric()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459736" y="1463040"/>
            <a:ext cx="960120" cy="5943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459736" y="1463040"/>
            <a:ext cx="960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Filter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19856" y="1508760"/>
            <a:ext cx="109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6B6D4"/>
                </a:solidFill>
              </a:rPr>
              <a:t>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368296" y="210312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loc[] + drop()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529584" y="1463040"/>
            <a:ext cx="960120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529584" y="1463040"/>
            <a:ext cx="960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Explore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489704" y="1508760"/>
            <a:ext cx="109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6B6D4"/>
                </a:solidFill>
              </a:rPr>
              <a:t>→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438144" y="210312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describe() + corr()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599432" y="1463040"/>
            <a:ext cx="960120" cy="5943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99432" y="1463040"/>
            <a:ext cx="960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Scale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559552" y="1508760"/>
            <a:ext cx="109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6B6D4"/>
                </a:solidFill>
              </a:rPr>
              <a:t>→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07992" y="210312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StandardScaler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669280" y="1463040"/>
            <a:ext cx="960120" cy="594360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669280" y="1463040"/>
            <a:ext cx="960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Reduce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629400" y="1508760"/>
            <a:ext cx="109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6B6D4"/>
                </a:solidFill>
              </a:rPr>
              <a:t>→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577840" y="210312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PCA(3)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739128" y="1463040"/>
            <a:ext cx="960120" cy="59436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739128" y="1463040"/>
            <a:ext cx="960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Cluster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699248" y="1508760"/>
            <a:ext cx="109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6B6D4"/>
                </a:solidFill>
              </a:rPr>
              <a:t>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647688" y="210312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KMeans(5)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7808976" y="1463040"/>
            <a:ext cx="960120" cy="59436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808976" y="1463040"/>
            <a:ext cx="960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Visualise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717536" y="210312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scatter + inverse_transform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65760" y="2743200"/>
            <a:ext cx="8412480" cy="365760"/>
          </a:xfrm>
          <a:prstGeom prst="rect">
            <a:avLst/>
          </a:prstGeom>
          <a:solidFill>
            <a:srgbClr val="0E7490">
              <a:alpha val="30000"/>
            </a:srgbClr>
          </a:solidFill>
          <a:ln w="12700">
            <a:solidFill>
              <a:srgbClr val="0E749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65760" y="27432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B6D4"/>
                </a:solidFill>
              </a:rPr>
              <a:t>Key Takeaways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411480" y="3246120"/>
            <a:ext cx="164592" cy="16459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67512" y="3218688"/>
            <a:ext cx="8046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cleaning ensures numeric columns are free of symbols before analysis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11480" y="3593592"/>
            <a:ext cx="164592" cy="16459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67512" y="3566160"/>
            <a:ext cx="8046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puts all spend categories on equal footing for distance-based algorithms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11480" y="3941064"/>
            <a:ext cx="164592" cy="16459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67512" y="3913632"/>
            <a:ext cx="8046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reduces 19 dimensions to 3, making K-Means faster and more reliable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11480" y="4288536"/>
            <a:ext cx="164592" cy="16459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67512" y="4261104"/>
            <a:ext cx="8046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scores guide the choice of optimal cluster count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11480" y="4636008"/>
            <a:ext cx="164592" cy="16459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667512" y="4608576"/>
            <a:ext cx="8046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inverse_transform turns abstract centroids into real-world spending profiles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1454</Words>
  <Application>Microsoft Office PowerPoint</Application>
  <PresentationFormat>On-screen Show (16:9)</PresentationFormat>
  <Paragraphs>183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Segmentation: Python Concepts Explained</dc:title>
  <dc:subject>PptxGenJS Presentation</dc:subject>
  <dc:creator>PptxGenJS</dc:creator>
  <cp:lastModifiedBy>NADEEM AHMED CHANDIO</cp:lastModifiedBy>
  <cp:revision>1</cp:revision>
  <dcterms:created xsi:type="dcterms:W3CDTF">2026-03-05T22:59:06Z</dcterms:created>
  <dcterms:modified xsi:type="dcterms:W3CDTF">2026-03-06T11:33:41Z</dcterms:modified>
</cp:coreProperties>
</file>